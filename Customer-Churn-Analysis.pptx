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PT Serif"/>
      <p:regular r:id="rId17"/>
    </p:embeddedFont>
    <p:embeddedFont>
      <p:font typeface="PT Serif Bold"/>
      <p:regular r:id="rId18"/>
    </p:embeddedFont>
    <p:embeddedFont>
      <p:font typeface="DM Sans"/>
      <p:regular r:id="rId19"/>
    </p:embeddedFont>
    <p:embeddedFont>
      <p:font typeface="DM Sans Bold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slideLayout" Target="../slideLayouts/slideLayout8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slideLayout" Target="../slideLayouts/slideLayout9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1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906488"/>
            <a:ext cx="4672757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Customer Churn Analysis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496119" y="2584252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Identifying drivers of customer attrition and revenue loss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970535"/>
            <a:ext cx="1502346" cy="266402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013025"/>
            <a:ext cx="178943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 · SQL · POWER BI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107207"/>
            <a:ext cx="417857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Business Problem</a:t>
            </a:r>
            <a:endParaRPr lang="en-US" sz="2900" dirty="0"/>
          </a:p>
        </p:txBody>
      </p:sp>
      <p:sp>
        <p:nvSpPr>
          <p:cNvPr id="4" name="Shape 1"/>
          <p:cNvSpPr/>
          <p:nvPr/>
        </p:nvSpPr>
        <p:spPr>
          <a:xfrm>
            <a:off x="496119" y="1784970"/>
            <a:ext cx="2290465" cy="1281559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637877" y="1926729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Challenge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7877" y="2244328"/>
            <a:ext cx="20069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Telecom company losing customers → reduced revenue &amp; rising acquisition costs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784970"/>
            <a:ext cx="2290539" cy="1281559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3070101" y="1926729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Objective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3070101" y="2244328"/>
            <a:ext cx="20070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 churn drivers, estimate revenue loss, recommend retention actions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3208288"/>
            <a:ext cx="4722763" cy="827931"/>
          </a:xfrm>
          <a:prstGeom prst="roundRect">
            <a:avLst>
              <a:gd name="adj" fmla="val 2568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637877" y="3350047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Approach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37877" y="3667646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 EDA → SQL analysis → Power BI dashboarding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8379" y="424607"/>
            <a:ext cx="1189062" cy="270346"/>
          </a:xfrm>
          <a:prstGeom prst="roundRect">
            <a:avLst>
              <a:gd name="adj" fmla="val 6194"/>
            </a:avLst>
          </a:prstGeom>
          <a:noFill/>
          <a:ln w="4763">
            <a:solidFill>
              <a:srgbClr val="E04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858" y="471190"/>
            <a:ext cx="1469306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DATASET SUMMARY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88379" y="749871"/>
            <a:ext cx="4120381" cy="457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Dataset at a Glance</a:t>
            </a:r>
            <a:endParaRPr lang="en-US" sz="2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379" y="1568276"/>
            <a:ext cx="2996133" cy="299613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066282" y="2197447"/>
            <a:ext cx="2228329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7" name="Text 4"/>
          <p:cNvSpPr/>
          <p:nvPr/>
        </p:nvSpPr>
        <p:spPr>
          <a:xfrm>
            <a:off x="4264670" y="2305273"/>
            <a:ext cx="183155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7,043 customers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066282" y="2671539"/>
            <a:ext cx="2228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21 features per record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31979" y="2197447"/>
            <a:ext cx="2228329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0" name="Text 7"/>
          <p:cNvSpPr/>
          <p:nvPr/>
        </p:nvSpPr>
        <p:spPr>
          <a:xfrm>
            <a:off x="6605290" y="2305273"/>
            <a:ext cx="1881708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Target: Churn (Yes/No)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31979" y="2671539"/>
            <a:ext cx="2228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blank spaces in TotalCharges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066282" y="3353098"/>
            <a:ext cx="4594027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3" name="Text 10"/>
          <p:cNvSpPr/>
          <p:nvPr/>
        </p:nvSpPr>
        <p:spPr>
          <a:xfrm>
            <a:off x="5447481" y="3460924"/>
            <a:ext cx="183155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5 Feature Categories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066282" y="3827190"/>
            <a:ext cx="45940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Demographics · Account · Services · Billing · Target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53641"/>
            <a:ext cx="4565972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Python Data Preparation</a:t>
            </a:r>
            <a:endParaRPr lang="en-US" sz="2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2407" y="1302321"/>
            <a:ext cx="6339185" cy="29012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56361" y="3388523"/>
            <a:ext cx="1190142" cy="481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Save to MySQL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756456" y="3508888"/>
            <a:ext cx="1190143" cy="240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Standardize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264702" y="3508888"/>
            <a:ext cx="1190142" cy="240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Clean Blanks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740341" y="3508888"/>
            <a:ext cx="1190142" cy="240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Load Data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96119" y="4363045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Cleaned data was loaded into MySQL for structured business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68685"/>
            <a:ext cx="417857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Overall Churn Rate</a:t>
            </a:r>
            <a:endParaRPr lang="en-US" sz="2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05917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88207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Findings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749701" y="1880220"/>
            <a:ext cx="1880592" cy="884634"/>
          </a:xfrm>
          <a:prstGeom prst="roundRect">
            <a:avLst>
              <a:gd name="adj" fmla="val 2404"/>
            </a:avLst>
          </a:prstGeom>
          <a:solidFill>
            <a:srgbClr val="F2EEEE"/>
          </a:solidFill>
          <a:ln/>
        </p:spPr>
      </p:sp>
      <p:sp>
        <p:nvSpPr>
          <p:cNvPr id="6" name="Text 3"/>
          <p:cNvSpPr/>
          <p:nvPr/>
        </p:nvSpPr>
        <p:spPr>
          <a:xfrm>
            <a:off x="4891460" y="2021979"/>
            <a:ext cx="159707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26.54%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891460" y="2396282"/>
            <a:ext cx="15970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Overall churn rate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772052" y="1880220"/>
            <a:ext cx="1880592" cy="884634"/>
          </a:xfrm>
          <a:prstGeom prst="roundRect">
            <a:avLst>
              <a:gd name="adj" fmla="val 2404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6913811" y="2021979"/>
            <a:ext cx="159707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1,869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913811" y="2396282"/>
            <a:ext cx="15970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lost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68685"/>
            <a:ext cx="5463406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Churn by Contract &amp; Payment</a:t>
            </a:r>
            <a:endParaRPr lang="en-US" sz="2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05917"/>
            <a:ext cx="3902943" cy="2809354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701" y="1505917"/>
            <a:ext cx="3902943" cy="28093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5443"/>
            <a:ext cx="6585198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Churn by Tenure, Charges &amp; Services</a:t>
            </a:r>
            <a:endParaRPr lang="en-US" sz="2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577" y="1282675"/>
            <a:ext cx="3255913" cy="325591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00538" y="1463353"/>
            <a:ext cx="1814661" cy="13763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137547" y="1624161"/>
            <a:ext cx="141684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Tenure Gap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5137547" y="1998464"/>
            <a:ext cx="141684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Churned avg: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17.98 mo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vs Retained: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37.57 mo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37908" y="1463353"/>
            <a:ext cx="1814661" cy="137636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074917" y="1624161"/>
            <a:ext cx="141684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Monthly Charges</a:t>
            </a:r>
            <a:endParaRPr lang="en-US" sz="1450" dirty="0"/>
          </a:p>
        </p:txBody>
      </p:sp>
      <p:sp>
        <p:nvSpPr>
          <p:cNvPr id="9" name="Text 4"/>
          <p:cNvSpPr/>
          <p:nvPr/>
        </p:nvSpPr>
        <p:spPr>
          <a:xfrm>
            <a:off x="7074917" y="1998464"/>
            <a:ext cx="141684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Churned avg: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$74.44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vs Retained: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$61.27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00538" y="2981474"/>
            <a:ext cx="1814661" cy="137636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137547" y="3142283"/>
            <a:ext cx="141684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Fiber Optic</a:t>
            </a: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5137547" y="3516585"/>
            <a:ext cx="141684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service churn: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41.89%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37908" y="2981474"/>
            <a:ext cx="1814661" cy="137636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074917" y="3142283"/>
            <a:ext cx="141684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No Tech Support</a:t>
            </a:r>
            <a:endParaRPr lang="en-US" sz="1450" dirty="0"/>
          </a:p>
        </p:txBody>
      </p:sp>
      <p:sp>
        <p:nvSpPr>
          <p:cNvPr id="15" name="Text 8"/>
          <p:cNvSpPr/>
          <p:nvPr/>
        </p:nvSpPr>
        <p:spPr>
          <a:xfrm>
            <a:off x="7074917" y="3516585"/>
            <a:ext cx="141684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Churn rate: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41.64%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vs 15.17% with support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389334"/>
            <a:ext cx="6708056" cy="44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Revenue Loss &amp; Highest-Risk Segments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901" y="1170756"/>
            <a:ext cx="3934271" cy="28319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1590" y="1154609"/>
            <a:ext cx="2230636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Highest-Risk Profile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2540" y="1521098"/>
            <a:ext cx="3953321" cy="109128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52851" y="1675209"/>
            <a:ext cx="3568898" cy="443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Month-to-Month + Fiber Optic + Electronic Check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952851" y="2247156"/>
            <a:ext cx="356889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Churn rate: </a:t>
            </a:r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60.37%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22540" y="2741116"/>
            <a:ext cx="3953321" cy="86967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52851" y="2895228"/>
            <a:ext cx="1773436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Senior Citizens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4952851" y="3245569"/>
            <a:ext cx="356889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Churn rate: </a:t>
            </a:r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41.68%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vs 23.61%</a:t>
            </a:r>
            <a:endParaRPr lang="en-US" sz="10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22540" y="3739530"/>
            <a:ext cx="3953321" cy="86967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952851" y="3893641"/>
            <a:ext cx="1773436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Total Revenue Lost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4952851" y="4243983"/>
            <a:ext cx="356889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$2,862,927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413221"/>
            <a:ext cx="4004146" cy="44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Power BI Dashboard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901" y="1114127"/>
            <a:ext cx="5198269" cy="32073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2901" y="4466406"/>
            <a:ext cx="8655397" cy="263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2020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Turning customer data into actionable insights to reduce churn and maximize revenue growth.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86147"/>
            <a:ext cx="4722763" cy="930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Recommendations &amp; Conclusion</a:t>
            </a:r>
            <a:endParaRPr lang="en-US" sz="29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250" y="1633463"/>
            <a:ext cx="212601" cy="2126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56816" y="1629073"/>
            <a:ext cx="2507307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Promote Long-Term Contracts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956816" y="1946672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Discounts &amp; loyalty benefits for annual/two-year plans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9250" y="2461394"/>
            <a:ext cx="212601" cy="2126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56816" y="2457004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Bundle Tech Support</a:t>
            </a:r>
            <a:endParaRPr lang="en-US" sz="1450" dirty="0"/>
          </a:p>
        </p:txBody>
      </p:sp>
      <p:sp>
        <p:nvSpPr>
          <p:cNvPr id="9" name="Text 4"/>
          <p:cNvSpPr/>
          <p:nvPr/>
        </p:nvSpPr>
        <p:spPr>
          <a:xfrm>
            <a:off x="956816" y="2774603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Proactive packages reduce churn by 26+ points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9250" y="3289325"/>
            <a:ext cx="212601" cy="2126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56816" y="3284934"/>
            <a:ext cx="225891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Target High-Risk Segments</a:t>
            </a: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956816" y="3602534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Month-to-month + Fiber Optic + Electronic Check users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9250" y="4117256"/>
            <a:ext cx="212601" cy="21260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56816" y="4112865"/>
            <a:ext cx="242068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Improve Payment Experience</a:t>
            </a:r>
            <a:endParaRPr lang="en-US" sz="1450" dirty="0"/>
          </a:p>
        </p:txBody>
      </p:sp>
      <p:sp>
        <p:nvSpPr>
          <p:cNvPr id="15" name="Text 8"/>
          <p:cNvSpPr/>
          <p:nvPr/>
        </p:nvSpPr>
        <p:spPr>
          <a:xfrm>
            <a:off x="956816" y="4430464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Incentivize auto-pay over electronic check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2026-05-31T15:19:02Z</dcterms:created>
  <dcterms:modified xsi:type="dcterms:W3CDTF">2026-05-31T15:19:02Z</dcterms:modified>
</cp:coreProperties>
</file>